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rimson Pro Semi Bold" panose="020B0604020202020204" charset="0"/>
      <p:regular r:id="rId9"/>
    </p:embeddedFont>
    <p:embeddedFont>
      <p:font typeface="Heebo" pitchFamily="2" charset="-79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64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557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996" y="800338"/>
            <a:ext cx="3947636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Harvest AI</a:t>
            </a:r>
            <a:endParaRPr lang="en-US" sz="3100" dirty="0"/>
          </a:p>
        </p:txBody>
      </p:sp>
      <p:sp>
        <p:nvSpPr>
          <p:cNvPr id="5" name="Text 1"/>
          <p:cNvSpPr/>
          <p:nvPr/>
        </p:nvSpPr>
        <p:spPr>
          <a:xfrm>
            <a:off x="12410242" y="1610797"/>
            <a:ext cx="1460183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6644521" y="2400181"/>
            <a:ext cx="6827639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850" dirty="0">
                <a:solidFill>
                  <a:srgbClr val="F9D933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SMART INDIA HACKATHON 2025</a:t>
            </a:r>
            <a:endParaRPr lang="en-US" sz="3850" dirty="0"/>
          </a:p>
        </p:txBody>
      </p:sp>
      <p:sp>
        <p:nvSpPr>
          <p:cNvPr id="7" name="Text 3"/>
          <p:cNvSpPr/>
          <p:nvPr/>
        </p:nvSpPr>
        <p:spPr>
          <a:xfrm>
            <a:off x="6700123" y="3313033"/>
            <a:ext cx="6716435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AI-Driven Crop Recommendation System</a:t>
            </a:r>
            <a:endParaRPr lang="en-US" sz="3100" dirty="0"/>
          </a:p>
        </p:txBody>
      </p:sp>
      <p:sp>
        <p:nvSpPr>
          <p:cNvPr id="8" name="Text 4"/>
          <p:cNvSpPr/>
          <p:nvPr/>
        </p:nvSpPr>
        <p:spPr>
          <a:xfrm>
            <a:off x="6253996" y="4102537"/>
            <a:ext cx="76088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 ID – 25030 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253996" y="4640342"/>
            <a:ext cx="76088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 Title– AI-Driven Crop Recommendation System 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53996" y="5178147"/>
            <a:ext cx="76088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Theme– Agriculture, FoodTech &amp; Rural Development 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253996" y="5715953"/>
            <a:ext cx="76088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PS Category– Software 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253996" y="6253758"/>
            <a:ext cx="76088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 ID– SIH25030 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253996" y="6791563"/>
            <a:ext cx="760880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 Name (Registered on portal)– Harvest AI 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253996" y="7329368"/>
            <a:ext cx="760880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 Name: Krishi Mitra </a:t>
            </a: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🌱</a:t>
            </a:r>
            <a:endParaRPr lang="en-US" sz="15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A7F0DC-BE09-D492-D421-9CD78A80C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533" y="734497"/>
            <a:ext cx="17240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797838"/>
            <a:ext cx="6680121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Krishi Mitra: Our Proposed Solution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11590853" y="1706761"/>
            <a:ext cx="2260521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83882" y="2696647"/>
            <a:ext cx="6438781" cy="1616273"/>
          </a:xfrm>
          <a:prstGeom prst="roundRect">
            <a:avLst>
              <a:gd name="adj" fmla="val 6789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86527" y="2605207"/>
            <a:ext cx="6438781" cy="91440"/>
          </a:xfrm>
          <a:prstGeom prst="roundRect">
            <a:avLst>
              <a:gd name="adj" fmla="val 29494"/>
            </a:avLst>
          </a:prstGeom>
          <a:solidFill>
            <a:srgbClr val="2150FE"/>
          </a:solidFill>
          <a:ln/>
        </p:spPr>
      </p:sp>
      <p:sp>
        <p:nvSpPr>
          <p:cNvPr id="7" name="Shape 4"/>
          <p:cNvSpPr/>
          <p:nvPr/>
        </p:nvSpPr>
        <p:spPr>
          <a:xfrm>
            <a:off x="3736181" y="2358390"/>
            <a:ext cx="539353" cy="539353"/>
          </a:xfrm>
          <a:prstGeom prst="roundRect">
            <a:avLst>
              <a:gd name="adj" fmla="val 169536"/>
            </a:avLst>
          </a:prstGeom>
          <a:solidFill>
            <a:srgbClr val="2150F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987" y="2493169"/>
            <a:ext cx="215741" cy="2696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9171" y="3077528"/>
            <a:ext cx="2253972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AI-Driven Web Platform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89171" y="3466386"/>
            <a:ext cx="6033492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Krishi Mitra collects soil, weather, and real-time market data to provide intelligent recommendations.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405092" y="2628067"/>
            <a:ext cx="6438781" cy="1616273"/>
          </a:xfrm>
          <a:prstGeom prst="roundRect">
            <a:avLst>
              <a:gd name="adj" fmla="val 6789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7405092" y="2605207"/>
            <a:ext cx="6438781" cy="91440"/>
          </a:xfrm>
          <a:prstGeom prst="roundRect">
            <a:avLst>
              <a:gd name="adj" fmla="val 29494"/>
            </a:avLst>
          </a:prstGeom>
          <a:solidFill>
            <a:srgbClr val="2150FE"/>
          </a:solidFill>
          <a:ln/>
        </p:spPr>
      </p:sp>
      <p:sp>
        <p:nvSpPr>
          <p:cNvPr id="13" name="Shape 9"/>
          <p:cNvSpPr/>
          <p:nvPr/>
        </p:nvSpPr>
        <p:spPr>
          <a:xfrm>
            <a:off x="10354747" y="2358390"/>
            <a:ext cx="539353" cy="539353"/>
          </a:xfrm>
          <a:prstGeom prst="roundRect">
            <a:avLst>
              <a:gd name="adj" fmla="val 169536"/>
            </a:avLst>
          </a:prstGeom>
          <a:solidFill>
            <a:srgbClr val="2150F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6553" y="2493169"/>
            <a:ext cx="215741" cy="2696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7737" y="3077528"/>
            <a:ext cx="251424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Multi-Parameter AI Engine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607737" y="3466386"/>
            <a:ext cx="6033492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Matches soil pH/NPK, weather patterns, and investment capacity for optimal crop suggestions.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86527" y="4693801"/>
            <a:ext cx="6438781" cy="1616273"/>
          </a:xfrm>
          <a:prstGeom prst="roundRect">
            <a:avLst>
              <a:gd name="adj" fmla="val 6789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786527" y="4670941"/>
            <a:ext cx="6438781" cy="91440"/>
          </a:xfrm>
          <a:prstGeom prst="roundRect">
            <a:avLst>
              <a:gd name="adj" fmla="val 29494"/>
            </a:avLst>
          </a:prstGeom>
          <a:solidFill>
            <a:srgbClr val="2150FE"/>
          </a:solidFill>
          <a:ln/>
        </p:spPr>
      </p:sp>
      <p:sp>
        <p:nvSpPr>
          <p:cNvPr id="19" name="Shape 14"/>
          <p:cNvSpPr/>
          <p:nvPr/>
        </p:nvSpPr>
        <p:spPr>
          <a:xfrm>
            <a:off x="3736181" y="4424124"/>
            <a:ext cx="539353" cy="539353"/>
          </a:xfrm>
          <a:prstGeom prst="roundRect">
            <a:avLst>
              <a:gd name="adj" fmla="val 169536"/>
            </a:avLst>
          </a:prstGeom>
          <a:solidFill>
            <a:srgbClr val="2150F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987" y="4558903"/>
            <a:ext cx="215741" cy="26967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9171" y="5143262"/>
            <a:ext cx="2410658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Interactive Land Mapping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989171" y="5532120"/>
            <a:ext cx="6033492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Utilizes Leaflet.js for precise land-boundary mapping, enhancing recommendation accuracy.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405092" y="4693801"/>
            <a:ext cx="6438781" cy="1616273"/>
          </a:xfrm>
          <a:prstGeom prst="roundRect">
            <a:avLst>
              <a:gd name="adj" fmla="val 6789"/>
            </a:avLst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7405092" y="4670941"/>
            <a:ext cx="6438781" cy="91440"/>
          </a:xfrm>
          <a:prstGeom prst="roundRect">
            <a:avLst>
              <a:gd name="adj" fmla="val 29494"/>
            </a:avLst>
          </a:prstGeom>
          <a:solidFill>
            <a:srgbClr val="2150FE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54747" y="4424124"/>
            <a:ext cx="539353" cy="539353"/>
          </a:xfrm>
          <a:prstGeom prst="roundRect">
            <a:avLst>
              <a:gd name="adj" fmla="val 169536"/>
            </a:avLst>
          </a:prstGeom>
          <a:solidFill>
            <a:srgbClr val="2150F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6553" y="4558903"/>
            <a:ext cx="215741" cy="26967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07737" y="5143262"/>
            <a:ext cx="22474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ROI &amp; Risk Assessment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7607737" y="5532120"/>
            <a:ext cx="6033492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Generates crop recommendations with projected ROI, timelines, and associated risk scores.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86527" y="6512243"/>
            <a:ext cx="13057346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Krishi Mitra eliminates guesswork, enabling data-driven decisions for increased profitability and optimized selling times.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86527" y="7163872"/>
            <a:ext cx="1855589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3088362" y="7163872"/>
            <a:ext cx="10763012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57127D-1F99-26FF-F76E-269A56F32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1896" y="634960"/>
            <a:ext cx="17240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483"/>
            <a:ext cx="552664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Approach &amp; Innovation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83296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Technologies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1" y="2284333"/>
            <a:ext cx="238125" cy="2976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09687" y="230921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 &amp; Mapping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309687" y="2715935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HTML5, CSS3, JavaScript PWA, Leaflet.js for interactive maps.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1" y="3262670"/>
            <a:ext cx="238125" cy="2976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09687" y="328755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Backend &amp; AI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309687" y="3694271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ML models, REST APIs for data processing and recommendations.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1" y="4241006"/>
            <a:ext cx="238125" cy="2976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09687" y="426589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Integration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309687" y="4672608"/>
            <a:ext cx="581191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IMD weather, Agmarknet prices, Chart.js for visualizations.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7516416" y="1832967"/>
            <a:ext cx="274379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Methodology &amp; Uniqueness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516416" y="2309217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516416" y="2556034"/>
            <a:ext cx="632781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1"/>
          <p:cNvSpPr/>
          <p:nvPr/>
        </p:nvSpPr>
        <p:spPr>
          <a:xfrm>
            <a:off x="7516416" y="268104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Collection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516416" y="3087767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inputs + API feeds.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516416" y="3619619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516416" y="3866436"/>
            <a:ext cx="632781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5"/>
          <p:cNvSpPr/>
          <p:nvPr/>
        </p:nvSpPr>
        <p:spPr>
          <a:xfrm>
            <a:off x="7516416" y="399145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Processing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516416" y="4398169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Compatibility scoring + market analysis (95.8% AI accuracy).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16416" y="493002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516416" y="5176838"/>
            <a:ext cx="632781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5" name="Text 19"/>
          <p:cNvSpPr/>
          <p:nvPr/>
        </p:nvSpPr>
        <p:spPr>
          <a:xfrm>
            <a:off x="7516416" y="530185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7516416" y="5708571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 crops + combinations, with 1433% ROI potential.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516416" y="6240423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516416" y="6487239"/>
            <a:ext cx="6327815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9" name="Text 23"/>
          <p:cNvSpPr/>
          <p:nvPr/>
        </p:nvSpPr>
        <p:spPr>
          <a:xfrm>
            <a:off x="7516416" y="661225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Delivery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7516416" y="7018973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Dashboards, downloadable reports, offline PWA with voice input.</a:t>
            </a:r>
            <a:endParaRPr lang="en-US" sz="12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34BFD6-592F-0F27-EB8E-DEF9D8671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1958" y="627399"/>
            <a:ext cx="17240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7853"/>
            <a:ext cx="486679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Feasibility &amp; Strategic Solutions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93790" y="2062520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Feasibility &amp; Challenges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93790" y="2504718"/>
            <a:ext cx="6341626" cy="938808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790" y="2504718"/>
            <a:ext cx="60960" cy="938808"/>
          </a:xfrm>
          <a:prstGeom prst="roundRect">
            <a:avLst>
              <a:gd name="adj" fmla="val 36279"/>
            </a:avLst>
          </a:prstGeom>
          <a:solidFill>
            <a:srgbClr val="2150FE"/>
          </a:solidFill>
          <a:ln/>
        </p:spPr>
      </p:sp>
      <p:sp>
        <p:nvSpPr>
          <p:cNvPr id="7" name="Text 4"/>
          <p:cNvSpPr/>
          <p:nvPr/>
        </p:nvSpPr>
        <p:spPr>
          <a:xfrm>
            <a:off x="1017389" y="2667357"/>
            <a:ext cx="192643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Proven APIs &amp; Tech Stack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17389" y="3045143"/>
            <a:ext cx="59553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Leveraging existing IMD, Agmarknet APIs and mature PWA tech.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3790" y="3590925"/>
            <a:ext cx="6341626" cy="938808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3790" y="3590925"/>
            <a:ext cx="60960" cy="938808"/>
          </a:xfrm>
          <a:prstGeom prst="roundRect">
            <a:avLst>
              <a:gd name="adj" fmla="val 36279"/>
            </a:avLst>
          </a:prstGeom>
          <a:solidFill>
            <a:srgbClr val="2150FE"/>
          </a:solidFill>
          <a:ln/>
        </p:spPr>
      </p:sp>
      <p:sp>
        <p:nvSpPr>
          <p:cNvPr id="11" name="Text 8"/>
          <p:cNvSpPr/>
          <p:nvPr/>
        </p:nvSpPr>
        <p:spPr>
          <a:xfrm>
            <a:off x="1017389" y="3753564"/>
            <a:ext cx="2279213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Accuracy &amp; Connectivity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17389" y="4131350"/>
            <a:ext cx="59553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Addressing regional data variations and rural internet issues.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3790" y="4677132"/>
            <a:ext cx="6341626" cy="938808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3790" y="4677132"/>
            <a:ext cx="60960" cy="938808"/>
          </a:xfrm>
          <a:prstGeom prst="roundRect">
            <a:avLst>
              <a:gd name="adj" fmla="val 36279"/>
            </a:avLst>
          </a:prstGeom>
          <a:solidFill>
            <a:srgbClr val="2150FE"/>
          </a:solidFill>
          <a:ln/>
        </p:spPr>
      </p:sp>
      <p:sp>
        <p:nvSpPr>
          <p:cNvPr id="15" name="Text 12"/>
          <p:cNvSpPr/>
          <p:nvPr/>
        </p:nvSpPr>
        <p:spPr>
          <a:xfrm>
            <a:off x="1017389" y="483977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Digital Literacy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17389" y="5217557"/>
            <a:ext cx="595538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Overcoming barriers of smartphone availability and user literacy.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502604" y="2062520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502604" y="2504718"/>
            <a:ext cx="6341626" cy="1497925"/>
          </a:xfrm>
          <a:prstGeom prst="roundRect">
            <a:avLst>
              <a:gd name="adj" fmla="val 1476"/>
            </a:avLst>
          </a:prstGeom>
          <a:solidFill>
            <a:srgbClr val="F2EEEE"/>
          </a:solidFill>
          <a:ln/>
        </p:spPr>
      </p:sp>
      <p:sp>
        <p:nvSpPr>
          <p:cNvPr id="19" name="Shape 16"/>
          <p:cNvSpPr/>
          <p:nvPr/>
        </p:nvSpPr>
        <p:spPr>
          <a:xfrm>
            <a:off x="7650004" y="2652117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567" y="2748796"/>
            <a:ext cx="198953" cy="24872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50004" y="32417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online &amp; SMS Fallback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7650004" y="3619500"/>
            <a:ext cx="60468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caching and SMS for real-time prices.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502604" y="4150042"/>
            <a:ext cx="6341626" cy="1497925"/>
          </a:xfrm>
          <a:prstGeom prst="roundRect">
            <a:avLst>
              <a:gd name="adj" fmla="val 1476"/>
            </a:avLst>
          </a:prstGeom>
          <a:solidFill>
            <a:srgbClr val="F2EEEE"/>
          </a:solidFill>
          <a:ln/>
        </p:spPr>
      </p:sp>
      <p:sp>
        <p:nvSpPr>
          <p:cNvPr id="24" name="Shape 20"/>
          <p:cNvSpPr/>
          <p:nvPr/>
        </p:nvSpPr>
        <p:spPr>
          <a:xfrm>
            <a:off x="7650004" y="4297442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567" y="4394121"/>
            <a:ext cx="198953" cy="24872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50004" y="4887039"/>
            <a:ext cx="2089666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Farmer Champion Training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7650004" y="5264825"/>
            <a:ext cx="60468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Local kiosk partnerships and training programs.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502604" y="5795367"/>
            <a:ext cx="6341626" cy="1497925"/>
          </a:xfrm>
          <a:prstGeom prst="roundRect">
            <a:avLst>
              <a:gd name="adj" fmla="val 1476"/>
            </a:avLst>
          </a:prstGeom>
          <a:solidFill>
            <a:srgbClr val="F2EEEE"/>
          </a:solidFill>
          <a:ln/>
        </p:spPr>
      </p:sp>
      <p:sp>
        <p:nvSpPr>
          <p:cNvPr id="29" name="Shape 24"/>
          <p:cNvSpPr/>
          <p:nvPr/>
        </p:nvSpPr>
        <p:spPr>
          <a:xfrm>
            <a:off x="7650004" y="5942767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2150FE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567" y="6039445"/>
            <a:ext cx="198953" cy="24872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650004" y="6532364"/>
            <a:ext cx="190833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Voice-Guided Workflows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7650004" y="6910149"/>
            <a:ext cx="60468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Simple, bilingual (Hindi/English) voice input for ease of use.</a:t>
            </a:r>
            <a:endParaRPr lang="en-US" sz="115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1994790-DBE6-CF5B-81DA-87CE32ED6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0808" y="498158"/>
            <a:ext cx="17240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991"/>
            <a:ext cx="7741324" cy="65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200" dirty="0"/>
              <a:t>Impact &amp; Benefits: A Smarter Future</a:t>
            </a:r>
          </a:p>
          <a:p>
            <a:br>
              <a:rPr lang="en-US" sz="3200" dirty="0"/>
            </a:b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93790" y="2254329"/>
            <a:ext cx="4224814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10K+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984653" y="29250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Farmers Onboarded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3243739"/>
            <a:ext cx="422481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 for Year 1 across 5 states.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02793" y="2254329"/>
            <a:ext cx="4224814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100K+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393656" y="29250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Farmers Empowered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02793" y="3243739"/>
            <a:ext cx="422481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Year 3, achieving 30-50% income boost.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611797" y="2254329"/>
            <a:ext cx="4224814" cy="48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₹2000+ Cr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10802660" y="2925008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Additional Income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611797" y="3243739"/>
            <a:ext cx="422481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Projected by Year 5 for farmers.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742361" y="3792736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Social Impact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93790" y="4216479"/>
            <a:ext cx="410872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Empowers farmers with actionable insights, reducing uncertainty and improving livelihoods.</a:t>
            </a:r>
            <a:endParaRPr lang="en-US" sz="11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53821"/>
            <a:ext cx="2286000" cy="2286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7682" y="3792736"/>
            <a:ext cx="2211467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Economic Growth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5269706" y="4216479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Higher ROI, reduced input costs, and optimized market timing for better profits.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706" y="4853821"/>
            <a:ext cx="2286000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48211" y="3792736"/>
            <a:ext cx="2699623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Environmental Sustainability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744313" y="4216479"/>
            <a:ext cx="410741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Promotes sustainable resource usage and significantly reduces agricultural waste.</a:t>
            </a:r>
            <a:endParaRPr lang="en-US" sz="11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4313" y="4853821"/>
            <a:ext cx="2286000" cy="228600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9D5428BC-C3DA-725B-DDA3-5AF1A6011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8300" y="895707"/>
            <a:ext cx="17240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18" y="50602"/>
            <a:ext cx="5574269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8794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Research &amp; References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6303050" y="1990904"/>
            <a:ext cx="7556421" cy="1802368"/>
          </a:xfrm>
          <a:prstGeom prst="roundRect">
            <a:avLst>
              <a:gd name="adj" fmla="val 19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2"/>
          <p:cNvSpPr/>
          <p:nvPr/>
        </p:nvSpPr>
        <p:spPr>
          <a:xfrm>
            <a:off x="6303050" y="2014657"/>
            <a:ext cx="816531" cy="1729740"/>
          </a:xfrm>
          <a:prstGeom prst="roundRect">
            <a:avLst>
              <a:gd name="adj" fmla="val 391"/>
            </a:avLst>
          </a:prstGeom>
          <a:solidFill>
            <a:srgbClr val="F2EEEE"/>
          </a:solidFill>
          <a:ln/>
        </p:spPr>
      </p:sp>
      <p:sp>
        <p:nvSpPr>
          <p:cNvPr id="7" name="Text 3"/>
          <p:cNvSpPr/>
          <p:nvPr/>
        </p:nvSpPr>
        <p:spPr>
          <a:xfrm>
            <a:off x="6558201" y="257472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323653" y="221873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b="1" dirty="0"/>
              <a:t>🏛️ Government Data Sources: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323653" y="2659975"/>
            <a:ext cx="649009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/>
              <a:t>India Meteorological Department (IMD)</a:t>
            </a:r>
            <a:r>
              <a:rPr lang="en-US" dirty="0"/>
              <a:t> - Real-time weather APIs, rainfall forecasts</a:t>
            </a:r>
          </a:p>
          <a:p>
            <a:r>
              <a:rPr lang="en-US" b="1" dirty="0" err="1"/>
              <a:t>Agmarknet</a:t>
            </a:r>
            <a:r>
              <a:rPr lang="en-US" b="1" dirty="0"/>
              <a:t> Portal</a:t>
            </a:r>
            <a:r>
              <a:rPr lang="en-US" dirty="0"/>
              <a:t> - Daily mandi prices across 3,000+ markets nationwide</a:t>
            </a:r>
          </a:p>
          <a:p>
            <a:br>
              <a:rPr lang="en-US" sz="1600" dirty="0"/>
            </a:b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80190" y="3744397"/>
            <a:ext cx="7556421" cy="142886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3050" y="3767256"/>
            <a:ext cx="816531" cy="1383149"/>
          </a:xfrm>
          <a:prstGeom prst="roundRect">
            <a:avLst>
              <a:gd name="adj" fmla="val 391"/>
            </a:avLst>
          </a:prstGeom>
          <a:solidFill>
            <a:srgbClr val="F2EEEE"/>
          </a:solidFill>
          <a:ln/>
        </p:spPr>
      </p:sp>
      <p:sp>
        <p:nvSpPr>
          <p:cNvPr id="12" name="Text 8"/>
          <p:cNvSpPr/>
          <p:nvPr/>
        </p:nvSpPr>
        <p:spPr>
          <a:xfrm>
            <a:off x="6558201" y="4165402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323653" y="397133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b="1" dirty="0"/>
              <a:t>🔬 Research Institution Backing: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323653" y="4412575"/>
            <a:ext cx="64900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b="1" dirty="0"/>
              <a:t>Indian Council of Agricultural Research (ICAR)</a:t>
            </a:r>
            <a:r>
              <a:rPr lang="en-US" dirty="0"/>
              <a:t> </a:t>
            </a:r>
          </a:p>
          <a:p>
            <a:pPr>
              <a:lnSpc>
                <a:spcPts val="2550"/>
              </a:lnSpc>
            </a:pPr>
            <a:r>
              <a:rPr lang="en-US" b="1" dirty="0"/>
              <a:t>Indian Institute of Horticultural Research</a:t>
            </a:r>
            <a:endParaRPr lang="en-US" dirty="0"/>
          </a:p>
          <a:p>
            <a:pPr>
              <a:lnSpc>
                <a:spcPts val="2550"/>
              </a:lnSpc>
            </a:pPr>
            <a:endParaRPr lang="en-US" dirty="0"/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80190" y="5173266"/>
            <a:ext cx="7556421" cy="1548527"/>
          </a:xfrm>
          <a:prstGeom prst="roundRect">
            <a:avLst>
              <a:gd name="adj" fmla="val 197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3050" y="5196126"/>
            <a:ext cx="816531" cy="1502807"/>
          </a:xfrm>
          <a:prstGeom prst="roundRect">
            <a:avLst>
              <a:gd name="adj" fmla="val 391"/>
            </a:avLst>
          </a:prstGeom>
          <a:solidFill>
            <a:srgbClr val="F2EEEE"/>
          </a:solidFill>
          <a:ln/>
        </p:spPr>
      </p:sp>
      <p:sp>
        <p:nvSpPr>
          <p:cNvPr id="17" name="Text 13"/>
          <p:cNvSpPr/>
          <p:nvPr/>
        </p:nvSpPr>
        <p:spPr>
          <a:xfrm>
            <a:off x="6558201" y="5756196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323653" y="540019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IN" b="1" dirty="0"/>
              <a:t>📈 Market Research Validation: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323653" y="5841444"/>
            <a:ext cx="6490097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b="1" dirty="0"/>
              <a:t>McKinsey Global Institute (2024)</a:t>
            </a:r>
            <a:r>
              <a:rPr lang="en-US" dirty="0"/>
              <a:t> - ₹50,000 Cr alternative crop market potential</a:t>
            </a:r>
          </a:p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280190" y="6951345"/>
            <a:ext cx="75564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solution is built on a foundation of credible data and extensive research to ensure accuracy and impact.</a:t>
            </a:r>
            <a:endParaRPr lang="en-US" sz="16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D24FFF-9F2F-4840-FF72-97AEADDA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9725" y="709612"/>
            <a:ext cx="17240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529</Words>
  <Application>Microsoft Office PowerPoint</Application>
  <PresentationFormat>Custom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Crimson Pro Light</vt:lpstr>
      <vt:lpstr>Heebo</vt:lpstr>
      <vt:lpstr>Arial</vt:lpstr>
      <vt:lpstr>Crimson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 Ghute</dc:creator>
  <cp:lastModifiedBy>Krishna Ghute</cp:lastModifiedBy>
  <cp:revision>3</cp:revision>
  <dcterms:created xsi:type="dcterms:W3CDTF">2025-09-07T10:14:15Z</dcterms:created>
  <dcterms:modified xsi:type="dcterms:W3CDTF">2025-09-07T10:47:45Z</dcterms:modified>
</cp:coreProperties>
</file>